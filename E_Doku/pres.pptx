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nic Blessing" userId="d9778405-9b9f-4411-9842-22e64b7d2e63" providerId="ADAL" clId="{CB739FC6-543E-446A-B933-DCFBF76D9D1C}"/>
    <pc:docChg chg="custSel addSld delSld modSld">
      <pc:chgData name="Yannic Blessing" userId="d9778405-9b9f-4411-9842-22e64b7d2e63" providerId="ADAL" clId="{CB739FC6-543E-446A-B933-DCFBF76D9D1C}" dt="2026-07-16T14:39:45.061" v="21" actId="47"/>
      <pc:docMkLst>
        <pc:docMk/>
      </pc:docMkLst>
      <pc:sldChg chg="modSp mod">
        <pc:chgData name="Yannic Blessing" userId="d9778405-9b9f-4411-9842-22e64b7d2e63" providerId="ADAL" clId="{CB739FC6-543E-446A-B933-DCFBF76D9D1C}" dt="2026-07-16T14:39:24.597" v="18" actId="1035"/>
        <pc:sldMkLst>
          <pc:docMk/>
          <pc:sldMk cId="0" sldId="258"/>
        </pc:sldMkLst>
        <pc:spChg chg="mod">
          <ac:chgData name="Yannic Blessing" userId="d9778405-9b9f-4411-9842-22e64b7d2e63" providerId="ADAL" clId="{CB739FC6-543E-446A-B933-DCFBF76D9D1C}" dt="2026-07-16T14:39:24.597" v="18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Yannic Blessing" userId="d9778405-9b9f-4411-9842-22e64b7d2e63" providerId="ADAL" clId="{CB739FC6-543E-446A-B933-DCFBF76D9D1C}" dt="2026-07-16T14:39:18.043" v="16" actId="1035"/>
          <ac:spMkLst>
            <pc:docMk/>
            <pc:sldMk cId="0" sldId="258"/>
            <ac:spMk id="26" creationId="{00000000-0000-0000-0000-000000000000}"/>
          </ac:spMkLst>
        </pc:spChg>
        <pc:spChg chg="mod">
          <ac:chgData name="Yannic Blessing" userId="d9778405-9b9f-4411-9842-22e64b7d2e63" providerId="ADAL" clId="{CB739FC6-543E-446A-B933-DCFBF76D9D1C}" dt="2026-07-16T14:39:18.043" v="16" actId="1035"/>
          <ac:spMkLst>
            <pc:docMk/>
            <pc:sldMk cId="0" sldId="258"/>
            <ac:spMk id="31" creationId="{00000000-0000-0000-0000-000000000000}"/>
          </ac:spMkLst>
        </pc:spChg>
      </pc:sldChg>
      <pc:sldChg chg="addSp delSp modSp new del mod chgLayout">
        <pc:chgData name="Yannic Blessing" userId="d9778405-9b9f-4411-9842-22e64b7d2e63" providerId="ADAL" clId="{CB739FC6-543E-446A-B933-DCFBF76D9D1C}" dt="2026-07-16T14:39:45.061" v="21" actId="47"/>
        <pc:sldMkLst>
          <pc:docMk/>
          <pc:sldMk cId="1699567040" sldId="259"/>
        </pc:sldMkLst>
        <pc:spChg chg="del">
          <ac:chgData name="Yannic Blessing" userId="d9778405-9b9f-4411-9842-22e64b7d2e63" providerId="ADAL" clId="{CB739FC6-543E-446A-B933-DCFBF76D9D1C}" dt="2026-07-16T14:39:43.089" v="20" actId="700"/>
          <ac:spMkLst>
            <pc:docMk/>
            <pc:sldMk cId="1699567040" sldId="259"/>
            <ac:spMk id="2" creationId="{64991E9D-E6B4-2C49-D59A-5E8C3A6D1958}"/>
          </ac:spMkLst>
        </pc:spChg>
        <pc:spChg chg="del">
          <ac:chgData name="Yannic Blessing" userId="d9778405-9b9f-4411-9842-22e64b7d2e63" providerId="ADAL" clId="{CB739FC6-543E-446A-B933-DCFBF76D9D1C}" dt="2026-07-16T14:39:43.089" v="20" actId="700"/>
          <ac:spMkLst>
            <pc:docMk/>
            <pc:sldMk cId="1699567040" sldId="259"/>
            <ac:spMk id="3" creationId="{A131DB4B-D3B9-E855-33A3-320A4DF63912}"/>
          </ac:spMkLst>
        </pc:spChg>
        <pc:spChg chg="add mod ord">
          <ac:chgData name="Yannic Blessing" userId="d9778405-9b9f-4411-9842-22e64b7d2e63" providerId="ADAL" clId="{CB739FC6-543E-446A-B933-DCFBF76D9D1C}" dt="2026-07-16T14:39:43.089" v="20" actId="700"/>
          <ac:spMkLst>
            <pc:docMk/>
            <pc:sldMk cId="1699567040" sldId="259"/>
            <ac:spMk id="4" creationId="{2ECA0568-54B1-174D-FD33-630553A280E7}"/>
          </ac:spMkLst>
        </pc:spChg>
        <pc:spChg chg="add mod ord">
          <ac:chgData name="Yannic Blessing" userId="d9778405-9b9f-4411-9842-22e64b7d2e63" providerId="ADAL" clId="{CB739FC6-543E-446A-B933-DCFBF76D9D1C}" dt="2026-07-16T14:39:43.089" v="20" actId="700"/>
          <ac:spMkLst>
            <pc:docMk/>
            <pc:sldMk cId="1699567040" sldId="259"/>
            <ac:spMk id="5" creationId="{8757A6C6-689E-8844-CEB6-1375B290FC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1735"/>
                </a:solidFill>
                <a:latin typeface="Segoe UI"/>
              </a:rPr>
              <a:t>Project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731520"/>
            <a:ext cx="1078992" cy="50292"/>
          </a:xfrm>
          <a:prstGeom prst="rect">
            <a:avLst/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873" y="256032"/>
            <a:ext cx="236234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3192" y="896112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300" b="1" i="0" dirty="0">
                <a:solidFill>
                  <a:srgbClr val="7E9B0F"/>
                </a:solidFill>
                <a:latin typeface="Segoe UI"/>
              </a:rPr>
              <a:t>VEKIFAB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19072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0B1735"/>
                </a:solidFill>
                <a:latin typeface="Segoe UI"/>
              </a:rPr>
              <a:t>AI-First Virtual Factory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6035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 dirty="0">
                <a:solidFill>
                  <a:srgbClr val="5B6472"/>
                </a:solidFill>
                <a:latin typeface="Segoe UI"/>
              </a:rPr>
              <a:t>Von </a:t>
            </a:r>
            <a:r>
              <a:rPr sz="1300" b="0" i="1" dirty="0" err="1">
                <a:solidFill>
                  <a:srgbClr val="5B6472"/>
                </a:solidFill>
                <a:latin typeface="Segoe UI"/>
              </a:rPr>
              <a:t>natürlicher</a:t>
            </a:r>
            <a:r>
              <a:rPr sz="1300" b="0" i="1" dirty="0">
                <a:solidFill>
                  <a:srgbClr val="5B6472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5B6472"/>
                </a:solidFill>
                <a:latin typeface="Segoe UI"/>
              </a:rPr>
              <a:t>Sprache</a:t>
            </a:r>
            <a:r>
              <a:rPr sz="1300" b="0" i="1" dirty="0">
                <a:solidFill>
                  <a:srgbClr val="5B6472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5B6472"/>
                </a:solidFill>
                <a:latin typeface="Segoe UI"/>
              </a:rPr>
              <a:t>zur</a:t>
            </a:r>
            <a:r>
              <a:rPr sz="1300" b="0" i="1" dirty="0">
                <a:solidFill>
                  <a:srgbClr val="5B6472"/>
                </a:solidFill>
                <a:latin typeface="Segoe UI"/>
              </a:rPr>
              <a:t> </a:t>
            </a:r>
            <a:r>
              <a:rPr sz="1300" b="0" i="1" dirty="0" err="1">
                <a:solidFill>
                  <a:srgbClr val="5B6472"/>
                </a:solidFill>
                <a:latin typeface="Segoe UI"/>
              </a:rPr>
              <a:t>begehbaren</a:t>
            </a:r>
            <a:r>
              <a:rPr sz="1300" b="0" i="1" dirty="0">
                <a:solidFill>
                  <a:srgbClr val="5B6472"/>
                </a:solidFill>
                <a:latin typeface="Segoe UI"/>
              </a:rPr>
              <a:t>, </a:t>
            </a:r>
            <a:r>
              <a:rPr sz="1300" b="0" i="1" dirty="0" err="1">
                <a:solidFill>
                  <a:srgbClr val="5B6472"/>
                </a:solidFill>
                <a:latin typeface="Segoe UI"/>
              </a:rPr>
              <a:t>virtuellen</a:t>
            </a:r>
            <a:r>
              <a:rPr sz="1300" b="0" i="1" dirty="0">
                <a:solidFill>
                  <a:srgbClr val="5B6472"/>
                </a:solidFill>
                <a:latin typeface="Segoe UI"/>
              </a:rPr>
              <a:t> Fabrik.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97480"/>
            <a:ext cx="5989320" cy="786384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697480"/>
            <a:ext cx="64008" cy="786384"/>
          </a:xfrm>
          <a:prstGeom prst="rect">
            <a:avLst/>
          </a:prstGeom>
          <a:solidFill>
            <a:srgbClr val="C17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2798064"/>
            <a:ext cx="5669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17D1C"/>
                </a:solidFill>
                <a:latin typeface="Segoe UI"/>
              </a:rPr>
              <a:t>HERAUSFORDERUNG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035808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C2436"/>
                </a:solidFill>
                <a:latin typeface="Segoe UI"/>
              </a:rPr>
              <a:t>Interaktive 3D-Fabriken zu planen ist langsam und manuell – es verlangt Spezialwissen in CAD, Physik und Echtzeit-3D.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02736"/>
            <a:ext cx="5989320" cy="786384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602736"/>
            <a:ext cx="64008" cy="786384"/>
          </a:xfrm>
          <a:prstGeom prst="rect">
            <a:avLst/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3703320"/>
            <a:ext cx="5669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E9B0F"/>
                </a:solidFill>
                <a:latin typeface="Segoe UI"/>
              </a:rPr>
              <a:t>IDEE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941064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C2436"/>
                </a:solidFill>
                <a:latin typeface="Segoe UI"/>
              </a:rPr>
              <a:t>Eine KI-First-Pipeline erzeugt aus natürlicher Sprache eine komplette, begehbare virtuelle Fabrik – vollständig End-to-End.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507992"/>
            <a:ext cx="5989320" cy="786384"/>
          </a:xfrm>
          <a:prstGeom prst="roundRect">
            <a:avLst>
              <a:gd name="adj" fmla="val 6000"/>
            </a:avLst>
          </a:prstGeom>
          <a:solidFill>
            <a:srgbClr val="FBFCFA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4507992"/>
            <a:ext cx="64008" cy="786384"/>
          </a:xfrm>
          <a:prstGeom prst="rect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4608576"/>
            <a:ext cx="5669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735"/>
                </a:solidFill>
                <a:latin typeface="Segoe UI"/>
              </a:rPr>
              <a:t>ERGEBNIS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4846320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C2436"/>
                </a:solidFill>
                <a:latin typeface="Segoe UI"/>
              </a:rPr>
              <a:t>Automatisiert generierte, VR-fähige Fabrik als Serious Game – reproduzierbar, realitätsnah, als Grundlage für Planung, Training &amp; Validierung.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46811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E9B0F"/>
                </a:solidFill>
                <a:latin typeface="Segoe UI"/>
              </a:rPr>
              <a:t>MEHRWERT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760720"/>
            <a:ext cx="790041" cy="274320"/>
          </a:xfrm>
          <a:prstGeom prst="roundRect">
            <a:avLst>
              <a:gd name="adj" fmla="val 50000"/>
            </a:avLst>
          </a:prstGeom>
          <a:solidFill>
            <a:srgbClr val="EEF1E6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5771692"/>
            <a:ext cx="79004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5340"/>
                </a:solidFill>
                <a:latin typeface="Segoe UI"/>
              </a:rPr>
              <a:t>Schneller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1249" y="5760720"/>
            <a:ext cx="1068019" cy="274320"/>
          </a:xfrm>
          <a:prstGeom prst="roundRect">
            <a:avLst>
              <a:gd name="adj" fmla="val 50000"/>
            </a:avLst>
          </a:prstGeom>
          <a:solidFill>
            <a:srgbClr val="EEF1E6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11249" y="5771692"/>
            <a:ext cx="106801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5340"/>
                </a:solidFill>
                <a:latin typeface="Segoe UI"/>
              </a:rPr>
              <a:t>Automatisiert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8996" y="5760720"/>
            <a:ext cx="998524" cy="274320"/>
          </a:xfrm>
          <a:prstGeom prst="roundRect">
            <a:avLst>
              <a:gd name="adj" fmla="val 50000"/>
            </a:avLst>
          </a:prstGeom>
          <a:solidFill>
            <a:srgbClr val="EEF1E6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88996" y="5771692"/>
            <a:ext cx="99852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5340"/>
                </a:solidFill>
                <a:latin typeface="Segoe UI"/>
              </a:rPr>
              <a:t>Realitätsnah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97249" y="5760720"/>
            <a:ext cx="1137513" cy="274320"/>
          </a:xfrm>
          <a:prstGeom prst="roundRect">
            <a:avLst>
              <a:gd name="adj" fmla="val 50000"/>
            </a:avLst>
          </a:prstGeom>
          <a:solidFill>
            <a:srgbClr val="EEF1E6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97249" y="5771692"/>
            <a:ext cx="1137513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5340"/>
                </a:solidFill>
                <a:latin typeface="Segoe UI"/>
              </a:rPr>
              <a:t>Reproduzierbar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4491" y="5760720"/>
            <a:ext cx="720547" cy="274320"/>
          </a:xfrm>
          <a:prstGeom prst="roundRect">
            <a:avLst>
              <a:gd name="adj" fmla="val 50000"/>
            </a:avLst>
          </a:prstGeom>
          <a:solidFill>
            <a:srgbClr val="EEF1E6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4491" y="5771692"/>
            <a:ext cx="720547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A5340"/>
                </a:solidFill>
                <a:latin typeface="Segoe UI"/>
              </a:rPr>
              <a:t>VR-fähig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93268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E9B0F"/>
                </a:solidFill>
                <a:latin typeface="Segoe UI"/>
              </a:rPr>
              <a:t>AUTOMATISCH GENERIERTE PRODUKTIONSSTATION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1280160"/>
            <a:ext cx="5074920" cy="3611880"/>
          </a:xfrm>
          <a:prstGeom prst="roundRect">
            <a:avLst>
              <a:gd name="adj" fmla="val 3000"/>
            </a:avLst>
          </a:prstGeom>
          <a:solidFill>
            <a:srgbClr val="EEF1F4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hero_vision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264" y="1389888"/>
            <a:ext cx="4168071" cy="339242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885431" y="1426463"/>
            <a:ext cx="182880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85431" y="1435607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E9B0F"/>
                </a:solidFill>
                <a:latin typeface="Segoe UI"/>
              </a:rPr>
              <a:t>BLENDER 3D · UNREAL-READY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5038344"/>
            <a:ext cx="1179576" cy="603504"/>
          </a:xfrm>
          <a:prstGeom prst="roundRect">
            <a:avLst>
              <a:gd name="adj" fmla="val 8000"/>
            </a:avLst>
          </a:prstGeom>
          <a:solidFill>
            <a:srgbClr val="F6F7F4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0840" y="5120640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735"/>
                </a:solidFill>
                <a:latin typeface="Segoe U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422392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2"/>
                </a:solidFill>
                <a:latin typeface="Segoe UI"/>
              </a:rPr>
              <a:t>Stationen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5038344"/>
            <a:ext cx="1179576" cy="603504"/>
          </a:xfrm>
          <a:prstGeom prst="roundRect">
            <a:avLst>
              <a:gd name="adj" fmla="val 8000"/>
            </a:avLst>
          </a:prstGeom>
          <a:solidFill>
            <a:srgbClr val="F6F7F4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10144" y="5120640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735"/>
                </a:solidFill>
                <a:latin typeface="Segoe UI"/>
              </a:rPr>
              <a:t>MF-IP-100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4" y="5422392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2"/>
                </a:solidFill>
                <a:latin typeface="Segoe UI"/>
              </a:rPr>
              <a:t>Produktlinie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99448" y="5038344"/>
            <a:ext cx="1179576" cy="603504"/>
          </a:xfrm>
          <a:prstGeom prst="roundRect">
            <a:avLst>
              <a:gd name="adj" fmla="val 8000"/>
            </a:avLst>
          </a:prstGeom>
          <a:solidFill>
            <a:srgbClr val="F6F7F4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99448" y="5120640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735"/>
                </a:solidFill>
                <a:latin typeface="Segoe UI"/>
              </a:rPr>
              <a:t>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5422392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2"/>
                </a:solidFill>
                <a:latin typeface="Segoe UI"/>
              </a:rPr>
              <a:t>Komponenten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88752" y="5038344"/>
            <a:ext cx="1179576" cy="603504"/>
          </a:xfrm>
          <a:prstGeom prst="roundRect">
            <a:avLst>
              <a:gd name="adj" fmla="val 8000"/>
            </a:avLst>
          </a:prstGeom>
          <a:solidFill>
            <a:srgbClr val="F6F7F4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88752" y="5120640"/>
            <a:ext cx="11795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1735"/>
                </a:solidFill>
                <a:latin typeface="Segoe UI"/>
              </a:rPr>
              <a:t>VR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88752" y="5422392"/>
            <a:ext cx="11795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472"/>
                </a:solidFill>
                <a:latin typeface="Segoe UI"/>
              </a:rPr>
              <a:t>begehbar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7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6473952"/>
            <a:ext cx="91440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i="0">
                <a:solidFill>
                  <a:srgbClr val="7E9B0F"/>
                </a:solidFill>
                <a:latin typeface="Segoe UI"/>
              </a:rPr>
              <a:t>— </a:t>
            </a:r>
            <a:r>
              <a:rPr sz="1100" b="1" i="0">
                <a:solidFill>
                  <a:srgbClr val="FFFFFF"/>
                </a:solidFill>
                <a:latin typeface="Segoe UI"/>
              </a:rPr>
              <a:t>VEKIFAB</a:t>
            </a:r>
            <a:r>
              <a:rPr sz="1100" b="0" i="0">
                <a:solidFill>
                  <a:srgbClr val="9AA4BB"/>
                </a:solidFill>
                <a:latin typeface="Segoe UI"/>
              </a:rPr>
              <a:t>  |  Kurs: Virtual Engineering SS26  ·  IPAI Heilbronn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51415" y="6473952"/>
            <a:ext cx="18288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9AA4BB"/>
                </a:solidFill>
                <a:latin typeface="Segoe UI"/>
              </a:rPr>
              <a:t>SS26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1735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731520"/>
            <a:ext cx="1078992" cy="50292"/>
          </a:xfrm>
          <a:prstGeom prst="rect">
            <a:avLst/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873" y="256032"/>
            <a:ext cx="236234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" y="841248"/>
            <a:ext cx="10515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472"/>
                </a:solidFill>
                <a:latin typeface="Segoe UI"/>
              </a:rPr>
              <a:t>Vier KI-Bausteine – vom Foto bis zur begehbaren Fabrik – mit einem Multi-Agenten-Engineering-Kern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98448"/>
            <a:ext cx="2761488" cy="1517904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9496" y="1426464"/>
            <a:ext cx="310896" cy="310896"/>
          </a:xfrm>
          <a:prstGeom prst="ellipse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9496" y="1431036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1435607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735"/>
                </a:solidFill>
                <a:latin typeface="Segoe UI"/>
              </a:rPr>
              <a:t>AI-Avatar</a:t>
            </a:r>
          </a:p>
        </p:txBody>
      </p:sp>
      <p:pic>
        <p:nvPicPr>
          <p:cNvPr id="10" name="Picture 9" descr="c1_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405" y="1408176"/>
            <a:ext cx="716997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" y="2048255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5B6472"/>
                </a:solidFill>
                <a:latin typeface="Segoe UI"/>
              </a:rPr>
              <a:t>Foto → 3D-Avatar (GLB); der Ingenieur stellt die Anforderungen.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2523744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7E9B0F"/>
                </a:solidFill>
                <a:latin typeface="Segoe UI"/>
              </a:rPr>
              <a:t>Meshy · ReadyPlayer.me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77540" y="1975104"/>
            <a:ext cx="12801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00984" y="1402842"/>
            <a:ext cx="2761488" cy="1517904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2032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47288" y="1426464"/>
            <a:ext cx="310896" cy="310896"/>
          </a:xfrm>
          <a:prstGeom prst="ellipse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47288" y="1431036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dirty="0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6" y="1435607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735"/>
                </a:solidFill>
                <a:latin typeface="Segoe UI"/>
              </a:rPr>
              <a:t>Claude → Blender</a:t>
            </a:r>
          </a:p>
        </p:txBody>
      </p:sp>
      <p:pic>
        <p:nvPicPr>
          <p:cNvPr id="18" name="Picture 17" descr="c2_claudebl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8100" y="1408176"/>
            <a:ext cx="461191" cy="566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65576" y="2048255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5B6472"/>
                </a:solidFill>
                <a:latin typeface="Segoe UI"/>
              </a:rPr>
              <a:t>Claude MCP steuert Blender – parametrische Stationen &amp; Maschinen.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2523744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7E9B0F"/>
                </a:solidFill>
                <a:latin typeface="Segoe UI"/>
              </a:rPr>
              <a:t>Claude · Blender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85332" y="1975104"/>
            <a:ext cx="12801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27064" y="1298448"/>
            <a:ext cx="2761488" cy="1517904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55080" y="1426464"/>
            <a:ext cx="310896" cy="310896"/>
          </a:xfrm>
          <a:prstGeom prst="ellipse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431036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1435607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735"/>
                </a:solidFill>
                <a:latin typeface="Segoe UI"/>
              </a:rPr>
              <a:t>Image-to-Physics</a:t>
            </a:r>
          </a:p>
        </p:txBody>
      </p:sp>
      <p:pic>
        <p:nvPicPr>
          <p:cNvPr id="26" name="Picture 25" descr="c3_phys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66" y="1408176"/>
            <a:ext cx="445443" cy="566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73368" y="2048255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5B6472"/>
                </a:solidFill>
                <a:latin typeface="Segoe UI"/>
              </a:rPr>
              <a:t>Fertigungshalle aus Fotos via Gaussian Splatting.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523744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7E9B0F"/>
                </a:solidFill>
                <a:latin typeface="Segoe UI"/>
              </a:rPr>
              <a:t>image-blaster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993124" y="1975104"/>
            <a:ext cx="128016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34856" y="1298448"/>
            <a:ext cx="2761488" cy="1517904"/>
          </a:xfrm>
          <a:prstGeom prst="roundRect">
            <a:avLst>
              <a:gd name="adj" fmla="val 5000"/>
            </a:avLst>
          </a:prstGeom>
          <a:solidFill>
            <a:srgbClr val="FBFCFA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62872" y="1426464"/>
            <a:ext cx="310896" cy="310896"/>
          </a:xfrm>
          <a:prstGeom prst="ellipse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62872" y="1431036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1435607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735"/>
                </a:solidFill>
                <a:latin typeface="Segoe UI"/>
              </a:rPr>
              <a:t>Unreal Engine</a:t>
            </a:r>
          </a:p>
        </p:txBody>
      </p:sp>
      <p:pic>
        <p:nvPicPr>
          <p:cNvPr id="34" name="Picture 33" descr="c5_pers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0816" y="1408176"/>
            <a:ext cx="566928" cy="5669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81160" y="2048255"/>
            <a:ext cx="24871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5B6472"/>
                </a:solidFill>
                <a:latin typeface="Segoe UI"/>
              </a:rPr>
              <a:t>Kombination &amp; Animation zur begehbaren Fabrik (Serious Game).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523744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7E9B0F"/>
                </a:solidFill>
                <a:latin typeface="Segoe UI"/>
              </a:rPr>
              <a:t>Unreal Engine 5.5+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127248"/>
            <a:ext cx="11365992" cy="2999232"/>
          </a:xfrm>
          <a:prstGeom prst="roundRect">
            <a:avLst>
              <a:gd name="adj" fmla="val 3000"/>
            </a:avLst>
          </a:prstGeom>
          <a:solidFill>
            <a:srgbClr val="F7F8F5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32461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735"/>
                </a:solidFill>
                <a:latin typeface="Segoe UI"/>
              </a:rPr>
              <a:t>MULTI-AGENTEN-ENGINEERING</a:t>
            </a:r>
            <a:r>
              <a:rPr sz="1050" b="0" i="0">
                <a:solidFill>
                  <a:srgbClr val="5B6472"/>
                </a:solidFill>
                <a:latin typeface="Segoe UI"/>
              </a:rPr>
              <a:t>   ·   WP B – 14 KI-Ingenieur-Agenten prüfen jede Station wie ein echtes Engineering-Haus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" y="3584448"/>
            <a:ext cx="2048256" cy="457200"/>
          </a:xfrm>
          <a:prstGeom prst="roundRect">
            <a:avLst>
              <a:gd name="adj" fmla="val 14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3504" y="363474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PLAN  </a:t>
            </a:r>
            <a:r>
              <a:rPr sz="850" b="0" i="0">
                <a:solidFill>
                  <a:srgbClr val="C9D2DF"/>
                </a:solidFill>
                <a:latin typeface="Segoe UI"/>
              </a:rPr>
              <a:t>Chief Engineer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670048" y="3730752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AA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852928" y="3584448"/>
            <a:ext cx="2048256" cy="457200"/>
          </a:xfrm>
          <a:prstGeom prst="roundRect">
            <a:avLst>
              <a:gd name="adj" fmla="val 14000"/>
            </a:avLst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52928" y="363474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ENGINEER  </a:t>
            </a:r>
            <a:r>
              <a:rPr sz="850" b="0" i="0">
                <a:solidFill>
                  <a:srgbClr val="EAF1D8"/>
                </a:solidFill>
                <a:latin typeface="Segoe UI"/>
              </a:rPr>
              <a:t>7 Fachdisziplinen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919472" y="3730752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AA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102352" y="3584448"/>
            <a:ext cx="2048256" cy="457200"/>
          </a:xfrm>
          <a:prstGeom prst="roundRect">
            <a:avLst>
              <a:gd name="adj" fmla="val 14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02352" y="363474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INTEGRATE  </a:t>
            </a:r>
            <a:r>
              <a:rPr sz="850" b="0" i="0">
                <a:solidFill>
                  <a:srgbClr val="C9D2DF"/>
                </a:solidFill>
                <a:latin typeface="Segoe UI"/>
              </a:rPr>
              <a:t>Integration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168896" y="3730752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AA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351776" y="3584448"/>
            <a:ext cx="2048256" cy="457200"/>
          </a:xfrm>
          <a:prstGeom prst="roundRect">
            <a:avLst>
              <a:gd name="adj" fmla="val 14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51776" y="363474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INSPECT  </a:t>
            </a:r>
            <a:r>
              <a:rPr sz="850" b="0" i="0">
                <a:solidFill>
                  <a:srgbClr val="C9D2DF"/>
                </a:solidFill>
                <a:latin typeface="Segoe UI"/>
              </a:rPr>
              <a:t>QA + Operator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9418320" y="3730752"/>
            <a:ext cx="146304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AA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601200" y="3584448"/>
            <a:ext cx="2048256" cy="457200"/>
          </a:xfrm>
          <a:prstGeom prst="roundRect">
            <a:avLst>
              <a:gd name="adj" fmla="val 14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01200" y="3634740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ACCEPT  </a:t>
            </a:r>
            <a:r>
              <a:rPr sz="850" b="0" i="0">
                <a:solidFill>
                  <a:srgbClr val="C9D2DF"/>
                </a:solidFill>
                <a:latin typeface="Segoe UI"/>
              </a:rPr>
              <a:t>CTO-Gate · Kunde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" y="4078224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17D1C"/>
                </a:solidFill>
                <a:latin typeface="Segoe UI"/>
              </a:rPr>
              <a:t>↺  Fix-Loop: gefundene Mängel gehen zurück an die Fachdisziplinen – Sicherheit hat absolutes Veto.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4425696"/>
            <a:ext cx="274320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6928" y="4425696"/>
            <a:ext cx="2743200" cy="310896"/>
          </a:xfrm>
          <a:prstGeom prst="rect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4944" y="4466844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ENGINEERING  </a:t>
            </a:r>
            <a:r>
              <a:rPr sz="850" b="0" i="0">
                <a:solidFill>
                  <a:srgbClr val="9AA4BB"/>
                </a:solidFill>
                <a:latin typeface="Segoe UI"/>
              </a:rPr>
              <a:t>· 7 Spezialisten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4846320"/>
            <a:ext cx="629107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5800" y="4855464"/>
            <a:ext cx="6291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Mechanik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88059" y="4846320"/>
            <a:ext cx="689457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388059" y="4855464"/>
            <a:ext cx="68945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Fertigung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50668" y="4846320"/>
            <a:ext cx="629107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150668" y="4855464"/>
            <a:ext cx="6291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Elektrik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5157216"/>
            <a:ext cx="689457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5800" y="5166359"/>
            <a:ext cx="68945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Pneumatik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48409" y="5157216"/>
            <a:ext cx="568756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448409" y="5166359"/>
            <a:ext cx="56875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Wartung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090318" y="5157216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090318" y="5166359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Sicherheit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" y="5468112"/>
            <a:ext cx="689457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85800" y="5477255"/>
            <a:ext cx="68945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Ergonomie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429000" y="4425696"/>
            <a:ext cx="274320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429000" y="4425696"/>
            <a:ext cx="2743200" cy="310896"/>
          </a:xfrm>
          <a:prstGeom prst="rect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57016" y="4466844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DESIGN  </a:t>
            </a:r>
            <a:r>
              <a:rPr sz="850" b="0" i="0">
                <a:solidFill>
                  <a:srgbClr val="9AA4BB"/>
                </a:solidFill>
                <a:latin typeface="Segoe UI"/>
              </a:rPr>
              <a:t>· 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547872" y="4846320"/>
            <a:ext cx="1172260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547872" y="4855464"/>
            <a:ext cx="11722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Industrial Design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91072" y="4425696"/>
            <a:ext cx="274320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291072" y="4425696"/>
            <a:ext cx="2743200" cy="310896"/>
          </a:xfrm>
          <a:prstGeom prst="rect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19088" y="4466844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QUALITY  </a:t>
            </a:r>
            <a:r>
              <a:rPr sz="850" b="0" i="0">
                <a:solidFill>
                  <a:srgbClr val="9AA4BB"/>
                </a:solidFill>
                <a:latin typeface="Segoe UI"/>
              </a:rPr>
              <a:t>· 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9944" y="4846320"/>
            <a:ext cx="870508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09944" y="4855464"/>
            <a:ext cx="8705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QA-Inspektor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409944" y="5157216"/>
            <a:ext cx="1594713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09944" y="5166359"/>
            <a:ext cx="1594713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Operator · Voice-of-User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53144" y="4425696"/>
            <a:ext cx="274320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153144" y="4425696"/>
            <a:ext cx="2743200" cy="310896"/>
          </a:xfrm>
          <a:prstGeom prst="rect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281160" y="4466844"/>
            <a:ext cx="248716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MANAGEMENT  </a:t>
            </a:r>
            <a:r>
              <a:rPr sz="850" b="0" i="0">
                <a:solidFill>
                  <a:srgbClr val="9AA4BB"/>
                </a:solidFill>
                <a:latin typeface="Segoe UI"/>
              </a:rPr>
              <a:t>· 4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272016" y="4846320"/>
            <a:ext cx="991209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272016" y="4855464"/>
            <a:ext cx="99120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Chief Engineer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336377" y="4846320"/>
            <a:ext cx="810158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336377" y="4855464"/>
            <a:ext cx="81015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Integration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272016" y="5157216"/>
            <a:ext cx="629107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272016" y="5166359"/>
            <a:ext cx="62910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CTO-Gate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74275" y="5157216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1F3EC"/>
          </a:solidFill>
          <a:ln w="12700">
            <a:solidFill>
              <a:srgbClr val="E1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974275" y="5166359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3E4838"/>
                </a:solidFill>
                <a:latin typeface="Segoe UI"/>
              </a:rPr>
              <a:t>Kundenvertreter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62727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0B1735"/>
                </a:solidFill>
                <a:latin typeface="Segoe UI"/>
              </a:rPr>
              <a:t>TECH-STACK:</a:t>
            </a:r>
          </a:p>
        </p:txBody>
      </p:sp>
      <p:pic>
        <p:nvPicPr>
          <p:cNvPr id="95" name="Picture 94" descr="t_clau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1640" y="6272348"/>
            <a:ext cx="292608" cy="20203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2020824" y="6263640"/>
            <a:ext cx="835761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Claude · MCP</a:t>
            </a:r>
          </a:p>
        </p:txBody>
      </p:sp>
      <p:pic>
        <p:nvPicPr>
          <p:cNvPr id="97" name="Picture 96" descr="t_blen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2617" y="6252144"/>
            <a:ext cx="292608" cy="242446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3441801" y="6263640"/>
            <a:ext cx="76992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Blender 5.1</a:t>
            </a:r>
          </a:p>
        </p:txBody>
      </p:sp>
      <p:pic>
        <p:nvPicPr>
          <p:cNvPr id="99" name="Picture 98" descr="t_blast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7758" y="6250387"/>
            <a:ext cx="292608" cy="24596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4796942" y="6263640"/>
            <a:ext cx="90159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image-blaster</a:t>
            </a:r>
          </a:p>
        </p:txBody>
      </p:sp>
      <p:pic>
        <p:nvPicPr>
          <p:cNvPr id="101" name="Picture 100" descr="t_unr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4572" y="6250387"/>
            <a:ext cx="292608" cy="24596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6283756" y="6313262"/>
            <a:ext cx="769924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dirty="0">
                <a:solidFill>
                  <a:srgbClr val="5B6472"/>
                </a:solidFill>
                <a:latin typeface="Segoe UI"/>
              </a:rPr>
              <a:t>Unreal 5.</a:t>
            </a:r>
            <a:r>
              <a:rPr lang="de-DE" sz="900" b="0" i="0" dirty="0">
                <a:solidFill>
                  <a:srgbClr val="5B6472"/>
                </a:solidFill>
                <a:latin typeface="Segoe UI"/>
              </a:rPr>
              <a:t>6</a:t>
            </a:r>
            <a:endParaRPr sz="900" b="0" i="0" dirty="0">
              <a:solidFill>
                <a:srgbClr val="5B6472"/>
              </a:solidFill>
              <a:latin typeface="Segoe UI"/>
            </a:endParaRPr>
          </a:p>
        </p:txBody>
      </p:sp>
      <p:pic>
        <p:nvPicPr>
          <p:cNvPr id="103" name="Picture 102" descr="t_pyth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9713" y="6250387"/>
            <a:ext cx="292608" cy="24596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638897" y="6263640"/>
            <a:ext cx="7040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Python API</a:t>
            </a:r>
          </a:p>
        </p:txBody>
      </p:sp>
      <p:pic>
        <p:nvPicPr>
          <p:cNvPr id="105" name="Picture 104" descr="t_gi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9017" y="6250387"/>
            <a:ext cx="292608" cy="24596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8928201" y="6263640"/>
            <a:ext cx="24323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Segoe UI"/>
              </a:rPr>
              <a:t>Git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7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3774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1735"/>
                </a:solidFill>
                <a:latin typeface="Segoe UI"/>
              </a:rPr>
              <a:t>Claude → Blender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" y="731520"/>
            <a:ext cx="1078992" cy="50292"/>
          </a:xfrm>
          <a:prstGeom prst="rect">
            <a:avLst/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873" y="256032"/>
            <a:ext cx="2362341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0624" y="841248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472"/>
                </a:solidFill>
                <a:latin typeface="Segoe UI"/>
              </a:rPr>
              <a:t>Von natürlicher Sprache zum parametrischen, prüfbaren 3D-Produktionsmodell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E9B0F"/>
                </a:solidFill>
                <a:latin typeface="Segoe UI"/>
              </a:rPr>
              <a:t>GENERATIVER WORKFLOW</a:t>
            </a:r>
          </a:p>
        </p:txBody>
      </p:sp>
      <p:sp>
        <p:nvSpPr>
          <p:cNvPr id="7" name="Oval 6"/>
          <p:cNvSpPr/>
          <p:nvPr/>
        </p:nvSpPr>
        <p:spPr>
          <a:xfrm>
            <a:off x="429768" y="1600200"/>
            <a:ext cx="274320" cy="274320"/>
          </a:xfrm>
          <a:prstGeom prst="ellipse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1572768"/>
            <a:ext cx="4325112" cy="566928"/>
          </a:xfrm>
          <a:prstGeom prst="roundRect">
            <a:avLst>
              <a:gd name="adj" fmla="val 7000"/>
            </a:avLst>
          </a:prstGeom>
          <a:solidFill>
            <a:srgbClr val="F6F7F4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5528" y="1609344"/>
            <a:ext cx="45720" cy="493776"/>
          </a:xfrm>
          <a:prstGeom prst="rect">
            <a:avLst/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645920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735"/>
                </a:solidFill>
                <a:latin typeface="Segoe UI"/>
              </a:rPr>
              <a:t>Anforderung · natürliche Sprache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813052"/>
            <a:ext cx="4050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9" b="0" i="0" dirty="0">
                <a:solidFill>
                  <a:srgbClr val="5B6472"/>
                </a:solidFill>
                <a:latin typeface="Segoe UI"/>
              </a:rPr>
              <a:t>„</a:t>
            </a:r>
            <a:r>
              <a:rPr sz="969" b="0" i="0" dirty="0" err="1">
                <a:solidFill>
                  <a:srgbClr val="5B6472"/>
                </a:solidFill>
                <a:latin typeface="Segoe UI"/>
              </a:rPr>
              <a:t>Assistierte</a:t>
            </a:r>
            <a:r>
              <a:rPr sz="969" b="0" i="0" dirty="0">
                <a:solidFill>
                  <a:srgbClr val="5B6472"/>
                </a:solidFill>
                <a:latin typeface="Segoe UI"/>
              </a:rPr>
              <a:t> </a:t>
            </a:r>
            <a:r>
              <a:rPr sz="969" b="0" i="0" dirty="0" err="1">
                <a:solidFill>
                  <a:srgbClr val="5B6472"/>
                </a:solidFill>
                <a:latin typeface="Segoe UI"/>
              </a:rPr>
              <a:t>Montagestation</a:t>
            </a:r>
            <a:r>
              <a:rPr sz="969" b="0" i="0" dirty="0">
                <a:solidFill>
                  <a:srgbClr val="5B6472"/>
                </a:solidFill>
                <a:latin typeface="Segoe UI"/>
              </a:rPr>
              <a:t>: Operator </a:t>
            </a:r>
            <a:r>
              <a:rPr sz="969" b="0" i="0" dirty="0" err="1">
                <a:solidFill>
                  <a:srgbClr val="5B6472"/>
                </a:solidFill>
                <a:latin typeface="Segoe UI"/>
              </a:rPr>
              <a:t>baut</a:t>
            </a:r>
            <a:r>
              <a:rPr sz="969" b="0" i="0" dirty="0">
                <a:solidFill>
                  <a:srgbClr val="5B6472"/>
                </a:solidFill>
                <a:latin typeface="Segoe UI"/>
              </a:rPr>
              <a:t> die </a:t>
            </a:r>
            <a:r>
              <a:rPr sz="969" b="0" i="0" dirty="0" err="1">
                <a:solidFill>
                  <a:srgbClr val="5B6472"/>
                </a:solidFill>
                <a:latin typeface="Segoe UI"/>
              </a:rPr>
              <a:t>Infusionspumpe</a:t>
            </a:r>
            <a:r>
              <a:rPr sz="969" b="0" i="0" dirty="0">
                <a:solidFill>
                  <a:srgbClr val="5B6472"/>
                </a:solidFill>
                <a:latin typeface="Segoe UI"/>
              </a:rPr>
              <a:t> </a:t>
            </a:r>
            <a:r>
              <a:rPr sz="969" b="0" i="0" dirty="0" err="1">
                <a:solidFill>
                  <a:srgbClr val="5B6472"/>
                </a:solidFill>
                <a:latin typeface="Segoe UI"/>
              </a:rPr>
              <a:t>mit</a:t>
            </a:r>
            <a:r>
              <a:rPr sz="969" b="0" i="0" dirty="0">
                <a:solidFill>
                  <a:srgbClr val="5B6472"/>
                </a:solidFill>
                <a:latin typeface="Segoe UI"/>
              </a:rPr>
              <a:t> Pick-to-Light &amp; </a:t>
            </a:r>
            <a:r>
              <a:rPr sz="969" b="0" i="0" dirty="0" err="1">
                <a:solidFill>
                  <a:srgbClr val="5B6472"/>
                </a:solidFill>
                <a:latin typeface="Segoe UI"/>
              </a:rPr>
              <a:t>Drehmoment-Werkzeug</a:t>
            </a:r>
            <a:r>
              <a:rPr sz="969" b="0" i="0" dirty="0">
                <a:solidFill>
                  <a:srgbClr val="5B6472"/>
                </a:solidFill>
                <a:latin typeface="Segoe UI"/>
              </a:rPr>
              <a:t>.“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" y="2258568"/>
            <a:ext cx="274320" cy="274320"/>
          </a:xfrm>
          <a:prstGeom prst="ellipse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2231136"/>
            <a:ext cx="4325112" cy="713232"/>
          </a:xfrm>
          <a:prstGeom prst="roundRect">
            <a:avLst>
              <a:gd name="adj" fmla="val 7000"/>
            </a:avLst>
          </a:prstGeom>
          <a:solidFill>
            <a:srgbClr val="F6F7F4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8" y="2267712"/>
            <a:ext cx="45720" cy="640080"/>
          </a:xfrm>
          <a:prstGeom prst="rect">
            <a:avLst/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2304288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735"/>
                </a:solidFill>
                <a:latin typeface="Segoe UI"/>
              </a:rPr>
              <a:t>Multi-Agenten-Engineering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560320"/>
            <a:ext cx="40507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9" b="0" i="0">
                <a:solidFill>
                  <a:srgbClr val="5B6472"/>
                </a:solidFill>
                <a:latin typeface="Segoe UI"/>
              </a:rPr>
              <a:t>14 Ingenieur-Agenten (Chief + 13 Fachdisziplinen) planen, begründen &amp; prüfen.</a:t>
            </a:r>
          </a:p>
        </p:txBody>
      </p:sp>
      <p:sp>
        <p:nvSpPr>
          <p:cNvPr id="17" name="Oval 16"/>
          <p:cNvSpPr/>
          <p:nvPr/>
        </p:nvSpPr>
        <p:spPr>
          <a:xfrm>
            <a:off x="429768" y="3063240"/>
            <a:ext cx="274320" cy="274320"/>
          </a:xfrm>
          <a:prstGeom prst="ellipse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" y="3035808"/>
            <a:ext cx="4325112" cy="1042415"/>
          </a:xfrm>
          <a:prstGeom prst="roundRect">
            <a:avLst>
              <a:gd name="adj" fmla="val 7000"/>
            </a:avLst>
          </a:prstGeom>
          <a:solidFill>
            <a:srgbClr val="F6F7F4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" y="3072384"/>
            <a:ext cx="45720" cy="969263"/>
          </a:xfrm>
          <a:prstGeom prst="rect">
            <a:avLst/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3108960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735"/>
                </a:solidFill>
                <a:latin typeface="Segoe UI"/>
              </a:rPr>
              <a:t>Parametrische Spezifikation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" y="3383279"/>
            <a:ext cx="4050792" cy="585215"/>
          </a:xfrm>
          <a:prstGeom prst="rect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45720" rtlCol="0" anchor="ctr"/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8DB600"/>
                </a:solidFill>
                <a:latin typeface="Consolas"/>
              </a:rPr>
              <a:t>"station"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: </a:t>
            </a:r>
            <a:r>
              <a:rPr sz="850" b="0" i="0">
                <a:solidFill>
                  <a:srgbClr val="E6C07B"/>
                </a:solidFill>
                <a:latin typeface="Consolas"/>
              </a:rPr>
              <a:t>"S02_Assembly"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8DB600"/>
                </a:solidFill>
                <a:latin typeface="Consolas"/>
              </a:rPr>
              <a:t>"bench_m"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: [</a:t>
            </a:r>
            <a:r>
              <a:rPr sz="850" b="0" i="0">
                <a:solidFill>
                  <a:srgbClr val="7FB0E0"/>
                </a:solidFill>
                <a:latin typeface="Consolas"/>
              </a:rPr>
              <a:t>2.5, 0.9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], </a:t>
            </a:r>
            <a:r>
              <a:rPr sz="850" b="0" i="0">
                <a:solidFill>
                  <a:srgbClr val="8DB600"/>
                </a:solidFill>
                <a:latin typeface="Consolas"/>
              </a:rPr>
              <a:t>"operators"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: </a:t>
            </a:r>
            <a:r>
              <a:rPr sz="850" b="0" i="0">
                <a:solidFill>
                  <a:srgbClr val="7FB0E0"/>
                </a:solidFill>
                <a:latin typeface="Consolas"/>
              </a:rPr>
              <a:t>2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8DB600"/>
                </a:solidFill>
                <a:latin typeface="Consolas"/>
              </a:rPr>
              <a:t>"cycle_s"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: </a:t>
            </a:r>
            <a:r>
              <a:rPr sz="850" b="0" i="0">
                <a:solidFill>
                  <a:srgbClr val="7FB0E0"/>
                </a:solidFill>
                <a:latin typeface="Consolas"/>
              </a:rPr>
              <a:t>60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, </a:t>
            </a:r>
            <a:r>
              <a:rPr sz="850" b="0" i="0">
                <a:solidFill>
                  <a:srgbClr val="8DB600"/>
                </a:solidFill>
                <a:latin typeface="Consolas"/>
              </a:rPr>
              <a:t>"guidance"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: </a:t>
            </a:r>
            <a:r>
              <a:rPr sz="850" b="0" i="0">
                <a:solidFill>
                  <a:srgbClr val="E6C07B"/>
                </a:solidFill>
                <a:latin typeface="Consolas"/>
              </a:rPr>
              <a:t>"pick_to_light"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,</a:t>
            </a: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8DB600"/>
                </a:solidFill>
                <a:latin typeface="Consolas"/>
              </a:rPr>
              <a:t>"tools"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: [</a:t>
            </a:r>
            <a:r>
              <a:rPr sz="850" b="0" i="0">
                <a:solidFill>
                  <a:srgbClr val="E6C07B"/>
                </a:solidFill>
                <a:latin typeface="Consolas"/>
              </a:rPr>
              <a:t>"torque_wrench","hmi"</a:t>
            </a:r>
            <a:r>
              <a:rPr sz="850" b="0" i="0">
                <a:solidFill>
                  <a:srgbClr val="D8DEE9"/>
                </a:solidFill>
                <a:latin typeface="Consolas"/>
              </a:rPr>
              <a:t>]</a:t>
            </a:r>
          </a:p>
        </p:txBody>
      </p:sp>
      <p:sp>
        <p:nvSpPr>
          <p:cNvPr id="22" name="Oval 21"/>
          <p:cNvSpPr/>
          <p:nvPr/>
        </p:nvSpPr>
        <p:spPr>
          <a:xfrm>
            <a:off x="429768" y="4197095"/>
            <a:ext cx="274320" cy="274320"/>
          </a:xfrm>
          <a:prstGeom prst="ellipse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" y="4169663"/>
            <a:ext cx="4325112" cy="640080"/>
          </a:xfrm>
          <a:prstGeom prst="roundRect">
            <a:avLst>
              <a:gd name="adj" fmla="val 7000"/>
            </a:avLst>
          </a:prstGeom>
          <a:solidFill>
            <a:srgbClr val="F6F7F4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5528" y="4206240"/>
            <a:ext cx="45720" cy="566928"/>
          </a:xfrm>
          <a:prstGeom prst="rect">
            <a:avLst/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4242816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735"/>
                </a:solidFill>
                <a:latin typeface="Segoe UI"/>
              </a:rPr>
              <a:t>Prozeduraler Builder · 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454398"/>
            <a:ext cx="4050792" cy="256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9" b="0" i="0" dirty="0">
                <a:solidFill>
                  <a:srgbClr val="5B6472"/>
                </a:solidFill>
                <a:latin typeface="Segoe UI"/>
              </a:rPr>
              <a:t>Geometry-, Material- &amp; Assembly-Engine </a:t>
            </a:r>
            <a:r>
              <a:rPr sz="969" b="0" i="0" dirty="0" err="1">
                <a:solidFill>
                  <a:srgbClr val="5B6472"/>
                </a:solidFill>
                <a:latin typeface="Segoe UI"/>
              </a:rPr>
              <a:t>erzeugen</a:t>
            </a:r>
            <a:r>
              <a:rPr sz="969" b="0" i="0" dirty="0">
                <a:solidFill>
                  <a:srgbClr val="5B6472"/>
                </a:solidFill>
                <a:latin typeface="Segoe UI"/>
              </a:rPr>
              <a:t> die </a:t>
            </a:r>
            <a:r>
              <a:rPr sz="969" b="0" i="0" dirty="0" err="1">
                <a:solidFill>
                  <a:srgbClr val="5B6472"/>
                </a:solidFill>
                <a:latin typeface="Segoe UI"/>
              </a:rPr>
              <a:t>Geometrie</a:t>
            </a:r>
            <a:r>
              <a:rPr sz="969" b="0" i="0" dirty="0">
                <a:solidFill>
                  <a:srgbClr val="5B6472"/>
                </a:solidFill>
                <a:latin typeface="Segoe UI"/>
              </a:rPr>
              <a:t> </a:t>
            </a:r>
            <a:r>
              <a:rPr sz="969" b="0" i="0" dirty="0" err="1">
                <a:solidFill>
                  <a:srgbClr val="5B6472"/>
                </a:solidFill>
                <a:latin typeface="Segoe UI"/>
              </a:rPr>
              <a:t>regelbasiert</a:t>
            </a:r>
            <a:r>
              <a:rPr sz="969" b="0" i="0" dirty="0">
                <a:solidFill>
                  <a:srgbClr val="5B6472"/>
                </a:solidFill>
                <a:latin typeface="Segoe UI"/>
              </a:rPr>
              <a:t> in Blender.</a:t>
            </a:r>
          </a:p>
        </p:txBody>
      </p:sp>
      <p:sp>
        <p:nvSpPr>
          <p:cNvPr id="27" name="Oval 26"/>
          <p:cNvSpPr/>
          <p:nvPr/>
        </p:nvSpPr>
        <p:spPr>
          <a:xfrm>
            <a:off x="429768" y="4928615"/>
            <a:ext cx="274320" cy="274320"/>
          </a:xfrm>
          <a:prstGeom prst="ellipse">
            <a:avLst/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" y="4901183"/>
            <a:ext cx="4325112" cy="621792"/>
          </a:xfrm>
          <a:prstGeom prst="roundRect">
            <a:avLst>
              <a:gd name="adj" fmla="val 7000"/>
            </a:avLst>
          </a:prstGeom>
          <a:solidFill>
            <a:srgbClr val="F6F7F4"/>
          </a:solidFill>
          <a:ln w="12700">
            <a:solidFill>
              <a:srgbClr val="E4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5528" y="4937759"/>
            <a:ext cx="45720" cy="548640"/>
          </a:xfrm>
          <a:prstGeom prst="rect">
            <a:avLst/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" y="4974336"/>
            <a:ext cx="40507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735"/>
                </a:solidFill>
                <a:latin typeface="Segoe UI"/>
              </a:rPr>
              <a:t>Export → Unreal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185918"/>
            <a:ext cx="405079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9" b="0" i="0">
                <a:solidFill>
                  <a:srgbClr val="5B6472"/>
                </a:solidFill>
                <a:latin typeface="Segoe UI"/>
              </a:rPr>
              <a:t>.GLB je Station inkl. benannter Physik- &amp; Animations-Platzhalter für den Digital Twin.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1298448"/>
            <a:ext cx="6309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735"/>
                </a:solidFill>
                <a:latin typeface="Segoe UI"/>
              </a:rPr>
              <a:t>S02 · Assembly Station</a:t>
            </a:r>
            <a:r>
              <a:rPr sz="1200" b="0" i="0">
                <a:solidFill>
                  <a:srgbClr val="5B6472"/>
                </a:solidFill>
                <a:latin typeface="Segoe UI"/>
              </a:rPr>
              <a:t>   assistierte Montage – prozedural in Blender generiert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1664208"/>
            <a:ext cx="6382512" cy="3346704"/>
          </a:xfrm>
          <a:prstGeom prst="roundRect">
            <a:avLst>
              <a:gd name="adj" fmla="val 3000"/>
            </a:avLst>
          </a:prstGeom>
          <a:solidFill>
            <a:srgbClr val="EEF1F4"/>
          </a:solidFill>
          <a:ln w="1270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hero_asm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481" y="1773936"/>
            <a:ext cx="3747469" cy="312724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559552" y="1810512"/>
            <a:ext cx="1783080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2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59552" y="1819656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7E9B0F"/>
                </a:solidFill>
                <a:latin typeface="Segoe UI"/>
              </a:rPr>
              <a:t>BLENDER 3D · PROZEDURAL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5138928"/>
            <a:ext cx="1517904" cy="658368"/>
          </a:xfrm>
          <a:prstGeom prst="roundRect">
            <a:avLst>
              <a:gd name="adj" fmla="val 10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94960" y="5212080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198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5541264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C9D2DF"/>
                </a:solidFill>
                <a:latin typeface="Segoe UI"/>
              </a:rPr>
              <a:t>Objekte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13448" y="5138928"/>
            <a:ext cx="1517904" cy="658368"/>
          </a:xfrm>
          <a:prstGeom prst="roundRect">
            <a:avLst>
              <a:gd name="adj" fmla="val 10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13448" y="5212080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17 002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13448" y="5541264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C9D2DF"/>
                </a:solidFill>
                <a:latin typeface="Segoe UI"/>
              </a:rPr>
              <a:t>Dreiecke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31936" y="5138928"/>
            <a:ext cx="1517904" cy="658368"/>
          </a:xfrm>
          <a:prstGeom prst="roundRect">
            <a:avLst>
              <a:gd name="adj" fmla="val 10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31936" y="5212080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31936" y="5541264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C9D2DF"/>
                </a:solidFill>
                <a:latin typeface="Segoe UI"/>
              </a:rPr>
              <a:t>Materialien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50424" y="5138928"/>
            <a:ext cx="1517904" cy="658368"/>
          </a:xfrm>
          <a:prstGeom prst="roundRect">
            <a:avLst>
              <a:gd name="adj" fmla="val 10000"/>
            </a:avLst>
          </a:prstGeom>
          <a:solidFill>
            <a:srgbClr val="7E9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50424" y="5212080"/>
            <a:ext cx="151790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0424" y="5541264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EAF1D8"/>
                </a:solidFill>
                <a:latin typeface="Segoe UI"/>
              </a:rPr>
              <a:t>Fehler / Warnungen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5907024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E9B0F"/>
                </a:solidFill>
                <a:latin typeface="Segoe UI"/>
              </a:rPr>
              <a:t>19 </a:t>
            </a:r>
            <a:r>
              <a:rPr sz="1050" b="1" i="0">
                <a:solidFill>
                  <a:srgbClr val="0B1735"/>
                </a:solidFill>
                <a:latin typeface="Segoe UI"/>
              </a:rPr>
              <a:t>wiederverwendbare
Komponenten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54680" y="5989320"/>
            <a:ext cx="781812" cy="283464"/>
          </a:xfrm>
          <a:prstGeom prst="roundRect">
            <a:avLst>
              <a:gd name="adj" fmla="val 50000"/>
            </a:avLst>
          </a:prstGeom>
          <a:solidFill>
            <a:srgbClr val="F4F5F1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154680" y="6003036"/>
            <a:ext cx="7818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45533"/>
                </a:solidFill>
                <a:latin typeface="Segoe UI"/>
              </a:rPr>
              <a:t>Robot Arm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27932" y="5989320"/>
            <a:ext cx="644652" cy="283464"/>
          </a:xfrm>
          <a:prstGeom prst="roundRect">
            <a:avLst>
              <a:gd name="adj" fmla="val 50000"/>
            </a:avLst>
          </a:prstGeom>
          <a:solidFill>
            <a:srgbClr val="F4F5F1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027932" y="6003036"/>
            <a:ext cx="6446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45533"/>
                </a:solidFill>
                <a:latin typeface="Segoe UI"/>
              </a:rPr>
              <a:t>Gripper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64024" y="5989320"/>
            <a:ext cx="1193292" cy="283464"/>
          </a:xfrm>
          <a:prstGeom prst="roundRect">
            <a:avLst>
              <a:gd name="adj" fmla="val 50000"/>
            </a:avLst>
          </a:prstGeom>
          <a:solidFill>
            <a:srgbClr val="F4F5F1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64024" y="6003036"/>
            <a:ext cx="11932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45533"/>
                </a:solidFill>
                <a:latin typeface="Segoe UI"/>
              </a:rPr>
              <a:t>Roller Conveyor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48756" y="5989320"/>
            <a:ext cx="987551" cy="283464"/>
          </a:xfrm>
          <a:prstGeom prst="roundRect">
            <a:avLst>
              <a:gd name="adj" fmla="val 50000"/>
            </a:avLst>
          </a:prstGeom>
          <a:solidFill>
            <a:srgbClr val="F4F5F1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48756" y="6003036"/>
            <a:ext cx="98755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45533"/>
                </a:solidFill>
                <a:latin typeface="Segoe UI"/>
              </a:rPr>
              <a:t>Safety Fence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27748" y="5989320"/>
            <a:ext cx="1056132" cy="283464"/>
          </a:xfrm>
          <a:prstGeom prst="roundRect">
            <a:avLst>
              <a:gd name="adj" fmla="val 50000"/>
            </a:avLst>
          </a:prstGeom>
          <a:solidFill>
            <a:srgbClr val="F4F5F1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27748" y="6003036"/>
            <a:ext cx="10561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45533"/>
                </a:solidFill>
                <a:latin typeface="Segoe UI"/>
              </a:rPr>
              <a:t>Light Curtain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75320" y="5989320"/>
            <a:ext cx="918971" cy="283464"/>
          </a:xfrm>
          <a:prstGeom prst="roundRect">
            <a:avLst>
              <a:gd name="adj" fmla="val 50000"/>
            </a:avLst>
          </a:prstGeom>
          <a:solidFill>
            <a:srgbClr val="F4F5F1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75320" y="6003036"/>
            <a:ext cx="91897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45533"/>
                </a:solidFill>
                <a:latin typeface="Segoe UI"/>
              </a:rPr>
              <a:t>Stack Light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85732" y="5989320"/>
            <a:ext cx="781812" cy="283464"/>
          </a:xfrm>
          <a:prstGeom prst="roundRect">
            <a:avLst>
              <a:gd name="adj" fmla="val 50000"/>
            </a:avLst>
          </a:prstGeom>
          <a:solidFill>
            <a:srgbClr val="F4F5F1"/>
          </a:solidFill>
          <a:ln w="12700">
            <a:solidFill>
              <a:srgbClr val="E5E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85732" y="6003036"/>
            <a:ext cx="7818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445533"/>
                </a:solidFill>
                <a:latin typeface="Segoe UI"/>
              </a:rPr>
              <a:t>HMI Panel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58984" y="5989320"/>
            <a:ext cx="987551" cy="283464"/>
          </a:xfrm>
          <a:prstGeom prst="roundRect">
            <a:avLst>
              <a:gd name="adj" fmla="val 50000"/>
            </a:avLst>
          </a:prstGeom>
          <a:solidFill>
            <a:srgbClr val="0B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158984" y="6003036"/>
            <a:ext cx="987551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+ 12 weitere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611110"/>
            <a:ext cx="12191695" cy="246889"/>
          </a:xfrm>
          <a:prstGeom prst="rect">
            <a:avLst/>
          </a:prstGeom>
          <a:solidFill>
            <a:srgbClr val="07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Microsoft Office PowerPoint</Application>
  <PresentationFormat>Breitbild</PresentationFormat>
  <Paragraphs>118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Consolas</vt:lpstr>
      <vt:lpstr>Segoe UI</vt:lpstr>
      <vt:lpstr>Office Theme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Yannic Blessing</cp:lastModifiedBy>
  <cp:revision>4</cp:revision>
  <dcterms:created xsi:type="dcterms:W3CDTF">2013-01-27T09:14:16Z</dcterms:created>
  <dcterms:modified xsi:type="dcterms:W3CDTF">2026-07-16T14:39:51Z</dcterms:modified>
  <cp:category/>
</cp:coreProperties>
</file>